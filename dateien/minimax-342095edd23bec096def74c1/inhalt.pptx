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duesseldorf/-/blob/0c420ba3f1a5c0795058bf8677b49b618f01ba2d/_posts/2026-10-29-holzschadlinge-am-bestand-erkennen-dokumentieren-anfrage.md" TargetMode="External"/><Relationship Id="rId3" Type="http://schemas.openxmlformats.org/officeDocument/2006/relationships/hyperlink" Target="https://holzundhaus.github.io/1aholzbauduesseldorf/dateien/minimax-342095edd23bec096def74c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Holzschädlinge am Bestand: Befall erkennen, dokumentieren und für die Anfrage aufbereiten · Erklärende Präsentation</a:t>
            </a:r>
          </a:p>
        </p:txBody>
      </p:sp>
      <p:sp>
        <p:nvSpPr>
          <p:cNvPr id="3" name="Content Placeholder 2"/>
          <p:cNvSpPr>
            <a:spLocks noGrp="1"/>
          </p:cNvSpPr>
          <p:nvPr>
            <p:ph idx="1"/>
          </p:nvPr>
        </p:nvSpPr>
        <p:spPr/>
        <p:txBody>
          <a:bodyPr/>
          <a:lstStyle/>
          <a:p>
            <a:r>
              <a:t>Überblick: Schäden an Holz sind ein wichtiger Hinweis, aber noch keine vollständige Diagnose. Wer Insektenbefall, Pilze oder Feuchteschäden frühzeitig erkennt und strukturiert dokumentiert, kann einer Fachfirma eine belastbare Ausgangslage liefern. Der folgende Leitfaden zeigt, welche Beobachtungen Eigentümer selbst einordnen können, welche Angaben in einer Anfrage fehlen dürfen und warum Bestandsaufnahme und geplante Sanierung getrennt betrachtet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Arten von Holzschäden unterscheiden</a:t>
            </a:r>
          </a:p>
        </p:txBody>
      </p:sp>
      <p:sp>
        <p:nvSpPr>
          <p:cNvPr id="3" name="Content Placeholder 2"/>
          <p:cNvSpPr>
            <a:spLocks noGrp="1"/>
          </p:cNvSpPr>
          <p:nvPr>
            <p:ph idx="1"/>
          </p:nvPr>
        </p:nvSpPr>
        <p:spPr/>
        <p:txBody>
          <a:bodyPr/>
          <a:lstStyle/>
          <a:p>
            <a:pPr>
              <a:defRPr sz="1800"/>
            </a:pPr>
            <a:r>
              <a:t>Am Bestand lassen sich Schäden grob drei Kategorien zuordnen: Insektenbefall, holzzerstörende Pilze und Folgeschäden durch Feuchte. Bei Insektenbefall können ovale Löcher von etwa 6 bis 10 mm auf Hausbock hindeuten, während der Holzbock kleinere runde Löcher von 1 bis 2 mm hinterlässt. Die unterschiedliche Größe des Bohrmehls und der Umfang des betroffenen Bauteils geben erste Hinweise, ersetzen aber keine fachliche Bewertung. Pilzbefall zeigt sich je nach Art durch unterschiedliche Beläge, Fruchtkörper oder faserige beziehungsweise würfelartig brüchige Holzstruktur. Verfärbungen, muffiger Geruch und feuchte Ränder an Sockeln, Fensterbänken 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Arten von Holzschäden unterscheiden</a:t>
            </a:r>
          </a:p>
        </p:txBody>
      </p:sp>
      <p:sp>
        <p:nvSpPr>
          <p:cNvPr id="3" name="Content Placeholder 2"/>
          <p:cNvSpPr>
            <a:spLocks noGrp="1"/>
          </p:cNvSpPr>
          <p:nvPr>
            <p:ph idx="1"/>
          </p:nvPr>
        </p:nvSpPr>
        <p:spPr/>
        <p:txBody>
          <a:bodyPr/>
          <a:lstStyle/>
          <a:p>
            <a:pPr>
              <a:defRPr sz="1800"/>
            </a:pPr>
            <a:r>
              <a:t>der Balkenköpfen weisen dagegen auf eine Feuchteursache hin, die vor einer neuen Bekleidung geklärt werden sollte.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Aktivität und Feuchte vor der Anfrage prüfen</a:t>
            </a:r>
          </a:p>
        </p:txBody>
      </p:sp>
      <p:sp>
        <p:nvSpPr>
          <p:cNvPr id="3" name="Content Placeholder 2"/>
          <p:cNvSpPr>
            <a:spLocks noGrp="1"/>
          </p:cNvSpPr>
          <p:nvPr>
            <p:ph idx="1"/>
          </p:nvPr>
        </p:nvSpPr>
        <p:spPr/>
        <p:txBody>
          <a:bodyPr/>
          <a:lstStyle/>
          <a:p>
            <a:pPr>
              <a:defRPr sz="1800"/>
            </a:pPr>
            <a:r>
              <a:t>Bei Insektenbefall lässt sich prüfen, ob das Bohrmehl noch frisch ist: Wird es nach einigen Tagen erneut an derselben Stelle sichtbar, spricht das für wahrscheinlich aktive Schäden. Älteres, trockenes Mehl kann dagegen auf einen früheren Befall hinweisen. Parallel sollte die Feuchtesituation beobachtet werden. Dunkle Schatten unter Fenstern, Verfärbungen an Sockeln oder morsche Auflager können auf wiederkehrende Nässe hinweisen. Eine neue Holzbekleidung würde diese Ursache lediglich verdecken. Deshalb sollten sichtbare Feuchte, Abflussprobleme, fehlender Spritzwasserschutz oder eine ungünstige Sockelentlüftung in der Anfrage ausdrücklich erwä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Aktivität und Feuchte vor der Anfrage prüfen</a:t>
            </a:r>
          </a:p>
        </p:txBody>
      </p:sp>
      <p:sp>
        <p:nvSpPr>
          <p:cNvPr id="3" name="Content Placeholder 2"/>
          <p:cNvSpPr>
            <a:spLocks noGrp="1"/>
          </p:cNvSpPr>
          <p:nvPr>
            <p:ph idx="1"/>
          </p:nvPr>
        </p:nvSpPr>
        <p:spPr/>
        <p:txBody>
          <a:bodyPr/>
          <a:lstStyle/>
          <a:p>
            <a:pPr>
              <a:defRPr sz="1800"/>
            </a:pPr>
            <a:r>
              <a:t>hnt werden, sofern sie erkennbar sind.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 dokumentieren Eigentümer den Bestand</a:t>
            </a:r>
          </a:p>
        </p:txBody>
      </p:sp>
      <p:sp>
        <p:nvSpPr>
          <p:cNvPr id="3" name="Content Placeholder 2"/>
          <p:cNvSpPr>
            <a:spLocks noGrp="1"/>
          </p:cNvSpPr>
          <p:nvPr>
            <p:ph idx="1"/>
          </p:nvPr>
        </p:nvSpPr>
        <p:spPr/>
        <p:txBody>
          <a:bodyPr/>
          <a:lstStyle/>
          <a:p>
            <a:pPr>
              <a:defRPr sz="1800"/>
            </a:pPr>
            <a:r>
              <a:t>Für die erste Einschätzung sind Fotos, Maße und eine genaue Ortsangabe besonders hilfreich. Bohrmehl, Lochränder, Pilzbeläge oder Feuchtestellen sollten mit einem Maßstab fotografiert und die betroffenen Bereiche mit Höhe, Breite und Tiefe eingemessen werden. Notiert werden können außerdem die Himmelsrichtung, die Höhe über Gelände und das genaue Bauteil, etwa Fassade, Fachwerk, Dachstuhl, Schwelle oder Terrasse. Wichtig sind auch Zugangsbeschränkungen wie nicht betretbare Dachbereiche, morsches Holz oder fehlende Trittleiter. Beschichtungen, frühere Reparaturen, Denkmalschutz und angrenzende Bauteile gehören ebenfalls in die Unterlagen, weil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 dokumentieren Eigentümer den Bestand</a:t>
            </a:r>
          </a:p>
        </p:txBody>
      </p:sp>
      <p:sp>
        <p:nvSpPr>
          <p:cNvPr id="3" name="Content Placeholder 2"/>
          <p:cNvSpPr>
            <a:spLocks noGrp="1"/>
          </p:cNvSpPr>
          <p:nvPr>
            <p:ph idx="1"/>
          </p:nvPr>
        </p:nvSpPr>
        <p:spPr/>
        <p:txBody>
          <a:bodyPr/>
          <a:lstStyle/>
          <a:p>
            <a:pPr>
              <a:defRPr sz="1800"/>
            </a:pPr>
            <a:r>
              <a:t> sie den Umfang der späteren Arbeiten beeinflussen können.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Fachbeurteilung klären muss</a:t>
            </a:r>
          </a:p>
        </p:txBody>
      </p:sp>
      <p:sp>
        <p:nvSpPr>
          <p:cNvPr id="3" name="Content Placeholder 2"/>
          <p:cNvSpPr>
            <a:spLocks noGrp="1"/>
          </p:cNvSpPr>
          <p:nvPr>
            <p:ph idx="1"/>
          </p:nvPr>
        </p:nvSpPr>
        <p:spPr/>
        <p:txBody>
          <a:bodyPr/>
          <a:lstStyle/>
          <a:p>
            <a:pPr>
              <a:defRPr sz="1800"/>
            </a:pPr>
            <a:r>
              <a:t>Eine Anfrage aus eigener Beobachtung ersetzt keine Bestandsaufnahme am Holz. Fachlich beurteilt werden müssen die Art und Ausdehnung des Befalls, die Holzfeuchte und die Feuchte der Umgebung sowie die Tragfähigkeit betroffener Bauteile. Sichtbare Schäden können verdeckte Bereiche unter Bekleidungen, in Hohlräumen oder unter Fußböden nicht vollständig abbilden. Bei Verdacht auf Echten Hausschwamm ist außerdem zu klären, wie sich der Befall über Mauerwerk und angrenzende Bauteile ausdehnt. Diese Prüfungen sollten als eigener Leistungspunkt benannt werden und nicht in einer allgemeinen Holz- oder Fassadenleistung verschwinden.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Mangel und Planung sauber trennen</a:t>
            </a:r>
          </a:p>
        </p:txBody>
      </p:sp>
      <p:sp>
        <p:nvSpPr>
          <p:cNvPr id="3" name="Content Placeholder 2"/>
          <p:cNvSpPr>
            <a:spLocks noGrp="1"/>
          </p:cNvSpPr>
          <p:nvPr>
            <p:ph idx="1"/>
          </p:nvPr>
        </p:nvSpPr>
        <p:spPr/>
        <p:txBody>
          <a:bodyPr/>
          <a:lstStyle/>
          <a:p>
            <a:pPr>
              <a:defRPr sz="1800"/>
            </a:pPr>
            <a:r>
              <a:t>Für vergleichbare Angebote hilft eine klare Gliederung in drei Bereiche: vorhandener Stand, festgestellter Mangel und geplante Arbeit. Die Angaben zum Bestand umfassen Bauteil, Holzart, Ort, Größe und sichtbare Schäden. Der Mangel sollte mit Bildern, Maßen und Beobachtungen zum Bohrmehl, zu Pilzbelägen oder zur Feuchte beschrieben werden. Im Planungsteil kann dann festgehalten werden, ob Holzteile erhalten, ertüchtigt oder ersetzt werden sollen oder ob die Schadenssanierung von einer neuen Bekleidung getrennt beauftragt werden soll. Angaben zu bereits erteilten Leistungen verhindern außerdem, dass vorhandene und noch zu vergebene Arbeiten ver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Mangel und Planung sauber trennen</a:t>
            </a:r>
          </a:p>
        </p:txBody>
      </p:sp>
      <p:sp>
        <p:nvSpPr>
          <p:cNvPr id="3" name="Content Placeholder 2"/>
          <p:cNvSpPr>
            <a:spLocks noGrp="1"/>
          </p:cNvSpPr>
          <p:nvPr>
            <p:ph idx="1"/>
          </p:nvPr>
        </p:nvSpPr>
        <p:spPr/>
        <p:txBody>
          <a:bodyPr/>
          <a:lstStyle/>
          <a:p>
            <a:pPr>
              <a:defRPr sz="1800"/>
            </a:pPr>
            <a:r>
              <a:t>mischt werden. Die Hinweise zur Holzfassade und Fachwerksanierung sowie ergänzende Hinweise zum Dachstuhl können diese Trennung bei der Vorbereitung einer Anfrage unterstützen.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Holzschädlinge am Bestand: Befall erkennen, dokumentieren und für die Anfrage aufbereiten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